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AB1A504-315E-B4AE-3F85-C50C3A951219}">
          <p14:sldIdLst>
            <p14:sldId id="256"/>
            <p14:sldId id="257"/>
            <p14:sldId id="258"/>
            <p14:sldId id="259"/>
          </p14:sldIdLst>
        </p14:section>
        <p14:section name="Data and Methods" id="{FE4EEDF1-BC53-F17D-25B6-A5C095EC5B41}">
          <p14:sldIdLst>
            <p14:sldId id="260"/>
            <p14:sldId id="261"/>
            <p14:sldId id="262"/>
            <p14:sldId id="263"/>
          </p14:sldIdLst>
        </p14:section>
        <p14:section name="Results" id="{CB01683A-9704-F0DB-10D8-B4EC19838FD2}">
          <p14:sldIdLst>
            <p14:sldId id="264"/>
            <p14:sldId id="265"/>
            <p14:sldId id="266"/>
            <p14:sldId id="267"/>
            <p14:sldId id="268"/>
          </p14:sldIdLst>
        </p14:section>
        <p14:section name="Discussion" id="{284950A0-BEEB-934E-EFB8-238A8D31D40C}">
          <p14:sldIdLst>
            <p14:sldId id="269"/>
            <p14:sldId id="270"/>
            <p14:sldId id="271"/>
          </p14:sldIdLst>
        </p14:section>
        <p14:section name="Conclusion" id="{F340EE3D-642E-CDD3-9E02-39E2DDC4F3B7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NMI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74-4181-B713-E43D03B42144}"/>
              </c:ext>
            </c:extLst>
          </c:dPt>
          <c:dPt>
            <c:idx val="1"/>
            <c:invertIfNegative val="0"/>
            <c:bubble3D val="0"/>
            <c:spPr>
              <a:solidFill>
                <a:srgbClr val="E88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74-4181-B713-E43D03B42144}"/>
              </c:ext>
            </c:extLst>
          </c:dPt>
          <c:dPt>
            <c:idx val="2"/>
            <c:invertIfNegative val="0"/>
            <c:bubble3D val="0"/>
            <c:spPr>
              <a:solidFill>
                <a:srgbClr val="6B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74-4181-B713-E43D03B42144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B3C"/>
                    </a:solidFill>
                    <a:latin typeface="+mn-lt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Subtype</c:v>
                </c:pt>
                <c:pt idx="1">
                  <c:v>Location</c:v>
                </c:pt>
                <c:pt idx="2">
                  <c:v>Sampling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0.70709999999999995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174-4181-B713-E43D03B421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B3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10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demonstrates a complete bioinformatics workflow: collect HA sequences from a public database, align them, measure genetic differences, build a phylogenetic tree, and compare clusters with subtype, year, and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is useful for comparative genomics because it changes over time. This project focuses on HA rather than the complete genome.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is not only about producing a tree. It also asks whether tree groups correspond to biological or epidemiological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produces the input for the next, making the analysis reproducible and inspectable rather than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deliberately small dataset. It is enough to demonstrate the workflow but not to support broad conclusions about H1N1, H3N2, years, or 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validation matters because mismatched sequence data can produce misleading distances and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alignment provides a common coordinate system: column 100 of one sequence can be compared with column 100 of another. For publication-quality work, compare with MAFFT or MUSCLE.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p-distance is a simple proportion of observed differences. It does not correct for multiple substitutions, so richer models suit larger or more divergent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matrix suggests a subtype split. But ~0.739 is unusually high for two records of the same subtype; verify coverage, orientation, annotation and alignment quality before calling it biological.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shows inferred similarity from the alignment and distance matrix. It does not prove direct ancestry; the 2009 H1N1 should not be described as descending from the 1934 record based on this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Subtype and location look aligned, but they are confounded: every US sample is H1N1 and every Hong Kong sample is H3N2. This dataset cannot say whether subtype, geography, or both explain the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Subtype and location both score 1.0 because the same two groups are represented by both labels. Year is lower because each cluster holds one older and one newer sample (1934/2009; 1968/2014).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are from a pilot dataset and should be presented as a demonstration, not a definitive evolutionary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limitations do not mean the workflow failed; they define what the results can responsibly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Better data and models would allow stronger conclusions, and visualizations would make the results easier to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uses only Python's standard library and keeps each step in a separate module, making it easier to understand, test and reproduce.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Bioinformatics connects public sequence data, computational analysis, and biological interpretation to help us study viral evolution and genetic diversity.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discussion: Why is HA useful? Why align before computing distances? What does a branch represent? Why can't subtype and location be separated here? What additional sequences would help?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Comparative Genomic Analysis and Phylogenetic Tree Construction of Influenza A Strains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43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8F0"/>
                </a:solidFill>
              </a:rPr>
              <a:t>Using hemagglutinin (HA) nucleotide sequences to compare genetic similarity and evolutionary relationships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B3C2"/>
                </a:solidFill>
              </a:rPr>
              <a:t>[Your name]  |  [Course / department]  |  [Presentation date]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498080" y="457200"/>
            <a:ext cx="1097280" cy="91440"/>
          </a:xfrm>
          <a:prstGeom prst="roundRect">
            <a:avLst>
              <a:gd name="adj" fmla="val 8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949440" y="457200"/>
            <a:ext cx="457200" cy="91440"/>
          </a:xfrm>
          <a:prstGeom prst="roundRect">
            <a:avLst>
              <a:gd name="adj" fmla="val 8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Background: Influenza A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RNA virus infecting humans, birds, and other animals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Genome made of multiple gene segments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Subtypes are written as combinations, such as H1N1 or H3N2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84632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5029200" y="1600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50292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Hemagglutinin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506B"/>
                </a:solidFill>
              </a:rPr>
              <a:t>Helps the virus attach to host cells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029200" y="32004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502920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Neuraminidase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506B"/>
                </a:solidFill>
              </a:rPr>
              <a:t>Helps new virus particles leave infected cells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Research question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6858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506B"/>
                </a:solidFill>
              </a:rPr>
              <a:t>How genetically similar are selected influenza A HA sequences, and do they cluster by subtype, sampling year, or geographic origin?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Obtain public HA sequences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46634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Attach metadata: subtype, year, location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291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Align the nucleotide sequences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3291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Calculate pairwise genetic distances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Build a phylogenetic tree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66344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 txBox="1"/>
          <p:nvPr/>
        </p:nvSpPr>
        <p:spPr>
          <a:xfrm>
            <a:off x="46634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Compare clusters with the metadata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Overall workflow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506B"/>
          </a:solidFill>
          <a:ln w="12700">
            <a:solidFill>
              <a:srgbClr val="145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Public NCBI records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463040"/>
            <a:ext cx="301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8C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587752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506B"/>
          </a:solidFill>
          <a:ln w="12700">
            <a:solidFill>
              <a:srgbClr val="145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2679192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FASTA + metadata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416552" y="1463040"/>
            <a:ext cx="301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8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718304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506B"/>
          </a:solidFill>
          <a:ln w="12700">
            <a:solidFill>
              <a:srgbClr val="145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4809744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Sequence validation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47104" y="1463040"/>
            <a:ext cx="301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8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848856" y="1463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4506B"/>
          </a:solidFill>
          <a:ln w="12700">
            <a:solidFill>
              <a:srgbClr val="145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940296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Global alignment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54864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p-distance matrix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3200400"/>
            <a:ext cx="301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8C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2587752" y="32004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2679192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UPGMA tree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416552" y="3200400"/>
            <a:ext cx="301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8C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718304" y="32004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 txBox="1"/>
          <p:nvPr/>
        </p:nvSpPr>
        <p:spPr>
          <a:xfrm>
            <a:off x="4809744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Cluster + metadata comparison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547104" y="3200400"/>
            <a:ext cx="301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F8C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848856" y="32004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 txBox="1"/>
          <p:nvPr/>
        </p:nvSpPr>
        <p:spPr>
          <a:xfrm>
            <a:off x="6940296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Report and interpretation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F8C"/>
                </a:solidFill>
              </a:rPr>
              <a:t>↓ continues on second row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Dataset: four public HA records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Identifier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Accession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Subtype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A_Puerto_Rico_8_1934_HA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CY009397.1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H1N1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1934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United States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A_California_04_2009_HA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CY121680.1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H1N1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2009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United States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A_Hong_Kong_1_1968_HA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CY032012.1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H3N2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1968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Hong Kong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A_Hong_Kong_4801_2014_HA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CY163680.1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H3N2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2014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Hong Kong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06B"/>
                </a:solidFill>
              </a:rPr>
              <a:t>4 sequences  |  HA gene  |  Source: NCBI nucleotide database</a:t>
            </a:r>
            <a:endParaRPr lang="en-US" sz="1600" dirty="0"/>
          </a:p>
        </p:txBody>
      </p:sp>
      <p:sp>
        <p:nvSpPr>
          <p:cNvPr id="3" name="Text 2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F8C"/>
                </a:solidFill>
              </a:rPr>
              <a:t>Inputs: data/ncbi_ha.fasta, data/ncbi_accessions.csv. Treat as a pilot/demo analysis.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FASTA format and input validation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0B2B3C"/>
          </a:solidFill>
          <a:ln w="1270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640080" y="14173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&gt;A_California_04_2009_HA accession=CY121680.1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GGAAAACAAAAGCAACAAAAATGAAGGCAATACTAGTAG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TTCTGCTATATAC...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= identifier 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 G T = bases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unknown 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= alignment gap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06B"/>
                </a:solidFill>
              </a:rPr>
              <a:t>The project checks that: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Every sequence has an identifier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Sequences are not empty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Identifiers are unique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Nucleotide characters are valid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Every identifier has metadata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Sequence alignment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1,739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506B"/>
                </a:solidFill>
              </a:rPr>
              <a:t>alignment positions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26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Alignment places comparable nucleotides in the same columns despite insertions or deletions.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0" y="128016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B2B3C"/>
          </a:solidFill>
          <a:ln w="1270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4297680" y="1417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 1:  A C G 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 2:  A - G 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06B"/>
                </a:solidFill>
              </a:rPr>
              <a:t>Method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Needleman–Wunsch global, progressive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06B"/>
                </a:solidFill>
              </a:rPr>
              <a:t>Match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+1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06B"/>
                </a:solidFill>
              </a:rPr>
              <a:t>Mismatch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−1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06B"/>
                </a:solidFill>
              </a:rPr>
              <a:t>Gap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B3C"/>
                </a:solidFill>
              </a:rPr>
              <a:t>−2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Genetic distance: p-distance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506B"/>
                </a:solidFill>
              </a:rPr>
              <a:t>p-distance  =  different comparable positions  ÷  comparable positions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346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Identical positions add no difference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Mismatched positions count as one difference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Columns containing a gap are excluded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0.0 means identical at the compared positions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834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F8C"/>
                </a:solidFill>
              </a:rPr>
              <a:t>Output: results/ncbi/distance_matrix.tsv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Pairwise distance results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Sequence pair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p-distance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H1N1 1934 vs H1N1 2009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0.180361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≈18.0% of positions differ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H3N2 1968 vs H3N2 2014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0.739084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≈73.9% differ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H1N1 1934 vs H3N2 1968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0.754202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≈75.4% differ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H1N1 2009 vs H3N2 1968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0.737515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≈73.8% differ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2"/>
          <p:cNvSpPr txBox="1"/>
          <p:nvPr/>
        </p:nvSpPr>
        <p:spPr>
          <a:xfrm>
            <a:off x="685800" y="3383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4A10"/>
                </a:solidFill>
              </a:rPr>
              <a:t>Quality-control flag: </a:t>
            </a:r>
            <a:r>
              <a:rPr lang="en-US" sz="1400" dirty="0">
                <a:solidFill>
                  <a:srgbClr val="0B2B3C"/>
                </a:solidFill>
              </a:rPr>
              <a:t>the H3N2 pair is far apart for the same subtype. The H1N1 pair is closer to each other than to either H3N2 record.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UPGMA tree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2788920"/>
            <a:ext cx="731520" cy="0"/>
          </a:xfrm>
          <a:prstGeom prst="line">
            <a:avLst/>
          </a:prstGeom>
          <a:noFill/>
          <a:ln w="3175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2"/>
          <p:cNvSpPr/>
          <p:nvPr/>
        </p:nvSpPr>
        <p:spPr>
          <a:xfrm>
            <a:off x="1371600" y="1828800"/>
            <a:ext cx="0" cy="1920240"/>
          </a:xfrm>
          <a:prstGeom prst="line">
            <a:avLst/>
          </a:prstGeom>
          <a:noFill/>
          <a:ln w="3175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1371600" y="1828800"/>
            <a:ext cx="822960" cy="0"/>
          </a:xfrm>
          <a:prstGeom prst="line">
            <a:avLst/>
          </a:prstGeom>
          <a:noFill/>
          <a:ln w="3175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1371600" y="3749040"/>
            <a:ext cx="822960" cy="0"/>
          </a:xfrm>
          <a:prstGeom prst="line">
            <a:avLst/>
          </a:prstGeom>
          <a:noFill/>
          <a:ln w="3175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2194560" y="1417320"/>
            <a:ext cx="0" cy="822960"/>
          </a:xfrm>
          <a:prstGeom prst="line">
            <a:avLst/>
          </a:prstGeom>
          <a:noFill/>
          <a:ln w="3175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2194560" y="1417320"/>
            <a:ext cx="1097280" cy="0"/>
          </a:xfrm>
          <a:prstGeom prst="line">
            <a:avLst/>
          </a:prstGeom>
          <a:noFill/>
          <a:ln w="3175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2194560" y="2240280"/>
            <a:ext cx="1097280" cy="0"/>
          </a:xfrm>
          <a:prstGeom prst="line">
            <a:avLst/>
          </a:prstGeom>
          <a:noFill/>
          <a:ln w="3175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2194560" y="3337560"/>
            <a:ext cx="0" cy="822960"/>
          </a:xfrm>
          <a:prstGeom prst="line">
            <a:avLst/>
          </a:prstGeom>
          <a:noFill/>
          <a:ln w="3175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2194560" y="3337560"/>
            <a:ext cx="1097280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2194560" y="4160520"/>
            <a:ext cx="1097280" cy="0"/>
          </a:xfrm>
          <a:prstGeom prst="line">
            <a:avLst/>
          </a:prstGeom>
          <a:noFill/>
          <a:ln w="3175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338328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</a:rPr>
              <a:t>A_California_04_2009_HA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</a:rPr>
              <a:t>A_Puerto_Rico_8_1934_HA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</a:rPr>
              <a:t>A_Hong_Kong_1_1968_HA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</a:rPr>
              <a:t>A_Hong_Kong_4801_2014_HA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12801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Two H1N1 sequences form one group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Two H3N2 sequences form the other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The groups are separated by a large distance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Tree clusters and metadata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Sequence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Subtype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A_Puerto_Rico_8_1934_HA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H1N1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1934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United States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A_California_04_2009_HA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H1N1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2009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United States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A_Hong_Kong_1_1968_HA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H3N2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1968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Hong Kong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A_Hong_Kong_4801_2014_HA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H3N2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2014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B3C"/>
                          </a:solidFill>
                        </a:rPr>
                        <a:t>Hong Kong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3832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2"/>
          <p:cNvSpPr txBox="1"/>
          <p:nvPr/>
        </p:nvSpPr>
        <p:spPr>
          <a:xfrm>
            <a:off x="45720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Cluster 1 = H1N1 = United States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754880" y="33832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4"/>
          <p:cNvSpPr txBox="1"/>
          <p:nvPr/>
        </p:nvSpPr>
        <p:spPr>
          <a:xfrm>
            <a:off x="475488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Cluster 2 = H3N2 = Hong Kong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Metadata association (NMI)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76072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0 = little or no agreement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1 = perfect agreement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B3C"/>
                </a:solidFill>
              </a:rPr>
              <a:t>NMI is descriptive here, not a hypothesis test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7607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F8C"/>
                </a:solidFill>
              </a:rPr>
              <a:t>Outputs: report.json, report.html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Main findings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B5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1887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3C"/>
                </a:solidFill>
              </a:rPr>
              <a:t>Workflow processed four public HA sequences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4800600" y="11887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33A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11887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3C"/>
                </a:solidFill>
              </a:rPr>
              <a:t>Sequences aligned to 1,739 positions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59436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B5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920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3C"/>
                </a:solidFill>
              </a:rPr>
              <a:t>UPGMA tree produced two main groups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92024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4800600" y="1920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33A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1920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3C"/>
                </a:solidFill>
              </a:rPr>
              <a:t>Groups matched H1N1 vs H3N2 (and US vs Hong Kong)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26517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 txBox="1"/>
          <p:nvPr/>
        </p:nvSpPr>
        <p:spPr>
          <a:xfrm>
            <a:off x="59436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DB5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26517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3C"/>
                </a:solidFill>
              </a:rPr>
              <a:t>Sampling year showed a weaker pattern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26517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 txBox="1"/>
          <p:nvPr/>
        </p:nvSpPr>
        <p:spPr>
          <a:xfrm>
            <a:off x="480060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33A"/>
                </a:solidFill>
              </a:rPr>
              <a:t>6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257800" y="26517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B3C"/>
                </a:solidFill>
              </a:rPr>
              <a:t>H3N2 pair's very high distance needs verification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4506B"/>
          </a:solidFill>
          <a:ln w="12700">
            <a:solidFill>
              <a:srgbClr val="145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 txBox="1"/>
          <p:nvPr/>
        </p:nvSpPr>
        <p:spPr>
          <a:xfrm>
            <a:off x="68580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In this pilot dataset, HA sequences clustered primarily by subtype. Because subtype and location were completely confounded, geography cannot be separated from subtype.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 txBox="1"/>
          <p:nvPr/>
        </p:nvSpPr>
        <p:spPr>
          <a:xfrm>
            <a:off x="1234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Dataset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Only four sequences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Only two subtypes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Unbalanced geography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Years and locations not independent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40690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Method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Simplified progressive alignment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p-distance ignores repeat substitutions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UPGMA assumes equal rates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No bootstrap; no formal test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90372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Data quality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H3N2 p-distance 0.739084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Check region and orientation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Check annotation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Check alignment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Improvements for a stronger study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 txBox="1"/>
          <p:nvPr/>
        </p:nvSpPr>
        <p:spPr>
          <a:xfrm>
            <a:off x="1234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Data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Many more sequences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Multiple countries per subtype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Multiple years per subtype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Complete homologous HA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Record versions and dates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40690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Analysis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MAFFT or MUSCLE alignment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IQ-TREE or RAxML (ML)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Substitution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Bootstrap support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QC filtering; statistical tests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4506B"/>
          </a:solidFill>
          <a:ln w="12700">
            <a:solidFill>
              <a:srgbClr val="1450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90372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C"/>
                </a:solidFill>
              </a:rPr>
              <a:t>Visuals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Colored subtype labels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Year and location annotations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Branch support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Distance heatmap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Reproducibility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0B2B3C"/>
          </a:solidFill>
          <a:ln w="12700">
            <a:solidFill>
              <a:srgbClr val="0B2B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640080" y="13258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$env:PYTHONPATH = "$PWD\src"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flu_analysis.cli `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--fasta data\ncbi_ha.fasta `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--metadata data\ncbi_accessions.csv `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--outdir results\ncbi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-s tests -v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06B"/>
                </a:solidFill>
              </a:rPr>
              <a:t>Project files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6459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cli.py: workflow entry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fasta.py: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alignment.py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distance.py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tree.py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B3C"/>
                </a:solidFill>
              </a:rPr>
              <a:t>report.py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8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Conclusions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432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F1F5"/>
                </a:solidFill>
              </a:rPr>
              <a:t>HA sequences can be used to compare influenza strains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F1F5"/>
                </a:solidFill>
              </a:rPr>
              <a:t>Alignment makes positions comparable; distances quantify differences; trees summarize relationships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F1F5"/>
                </a:solidFill>
              </a:rPr>
              <a:t>In this pilot, H1N1 clustered together and H3N2 clustered together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F1F5"/>
                </a:solidFill>
              </a:rPr>
              <a:t>Location association is confounded with subtype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F1F5"/>
                </a:solidFill>
              </a:rPr>
              <a:t>Larger balanced datasets and stronger methods are needed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r-TR" sz="3800" b="1" dirty="0">
                <a:solidFill>
                  <a:schemeClr val="bg1"/>
                </a:solidFill>
              </a:rPr>
              <a:t>Thank you</a:t>
            </a:r>
            <a:r>
              <a:rPr lang="tr-TR" dirty="0"/>
              <a:t>!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Genomics">
  <a:themeElements>
    <a:clrScheme name="FluGenomics">
      <a:dk1>
        <a:srgbClr val="0B2B3C"/>
      </a:dk1>
      <a:lt1>
        <a:srgbClr val="FFFFFF"/>
      </a:lt1>
      <a:dk2>
        <a:srgbClr val="14506B"/>
      </a:dk2>
      <a:lt2>
        <a:srgbClr val="EAF2F5"/>
      </a:lt2>
      <a:accent1>
        <a:srgbClr val="2F6DB5"/>
      </a:accent1>
      <a:accent2>
        <a:srgbClr val="E8833A"/>
      </a:accent2>
      <a:accent3>
        <a:srgbClr val="1B9AAA"/>
      </a:accent3>
      <a:accent4>
        <a:srgbClr val="C0392B"/>
      </a:accent4>
      <a:accent5>
        <a:srgbClr val="6B7F8C"/>
      </a:accent5>
      <a:accent6>
        <a:srgbClr val="7FB069"/>
      </a:accent6>
      <a:hlink>
        <a:srgbClr val="2F6DB5"/>
      </a:hlink>
      <a:folHlink>
        <a:srgbClr val="6B7F8C"/>
      </a:folHlink>
    </a:clrScheme>
    <a:fontScheme name="FluGenom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1531</Words>
  <Application>Microsoft Office PowerPoint</Application>
  <PresentationFormat>On-screen Show (16:9)</PresentationFormat>
  <Paragraphs>288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FluGenomics</vt:lpstr>
      <vt:lpstr>Comparative Genomic Analysis and Phylogenetic Tree Construction of Influenza A Strains</vt:lpstr>
      <vt:lpstr>Background: Influenza A</vt:lpstr>
      <vt:lpstr>Research question</vt:lpstr>
      <vt:lpstr>Overall workflow</vt:lpstr>
      <vt:lpstr>Dataset: four public HA records</vt:lpstr>
      <vt:lpstr>FASTA format and input validation</vt:lpstr>
      <vt:lpstr>Sequence alignment</vt:lpstr>
      <vt:lpstr>Genetic distance: p-distance</vt:lpstr>
      <vt:lpstr>Pairwise distance results</vt:lpstr>
      <vt:lpstr>UPGMA tree</vt:lpstr>
      <vt:lpstr>Tree clusters and metadata</vt:lpstr>
      <vt:lpstr>Metadata association (NMI)</vt:lpstr>
      <vt:lpstr>Main findings</vt:lpstr>
      <vt:lpstr>Limitations</vt:lpstr>
      <vt:lpstr>Improvements for a stronger study</vt:lpstr>
      <vt:lpstr>Reproducibility</vt:lpstr>
      <vt:lpstr>Conclusions</vt:lpstr>
      <vt:lpstr>Thank you!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Genomic Analysis of Influenza A Strains</dc:title>
  <dc:subject>PptxGenJS Presentation</dc:subject>
  <dc:creator>PptxGenJS</dc:creator>
  <cp:lastModifiedBy>Mustafa Sina YILDIRIR</cp:lastModifiedBy>
  <cp:revision>2</cp:revision>
  <dcterms:created xsi:type="dcterms:W3CDTF">2026-10-25T12:47:32Z</dcterms:created>
  <dcterms:modified xsi:type="dcterms:W3CDTF">2026-10-25T13:53:37Z</dcterms:modified>
</cp:coreProperties>
</file>